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819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Uvodno predavanje o razvoju Java web aplikacija isključivo sa servletima. Kasnija predavanja refaktoriraju ovu aplikaciju na Spring MVC, a zatim na Spring 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Šest cjelina: osnove servleta, zahtjev/odgovor, Thymeleaf pogled, scopeovi, deploy na Tomcat i sigurnost. Na kraju najava prelaska na Spring MVC i Spring 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Servlet je poslužiteljska Java klasa koja obrađuje HTTP zahtjeve i generira odgovore. Izvršava se u servlet kontejneru (Tomcat). Pripada Servlet API-ju (danas Jakarta Servlet). Minimalni primjer: klasa nasljeđuje HttpServlet i nadjačava doGet.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Tok: preglednik šalje HTTP zahtjev, Tomcat (servlet kontejner) ga prema URL mapiranju usmjerava odgovarajućem servletu, servlet obrađuje i vraća HTTP odgovor (najčešće HTML generiran kroz Thymeleaf). Kontejner za svaki zahtjev koristi zasebnu 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Hijerarhija: Servlet (sučelje) → GenericServlet (apstraktna, neovisna o protokolu) → HttpServlet (apstraktna, HTTP-specifična) → tvoja klasa. U praksi se nasljeđuje HttpServlet i nadjačavaju doGet/doPost.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Životni ciklus: init() se poziva jednom (inicijalizacija), service() pri svakom zahtjevu (delegira doGet/doPost), destroy() jednom pri gašenju. Kontejner upravlja ciklusom. init i destroy su prilike za otvaranje/zatvaranje resursa.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 metode preslikavaju se na doGet, doPost, doPut, doDelete. service() je dispečer koji ih poziva — obično se ne dira. GET za dohvat, POST za promjene/forme. Naglasiti idempotentnost GET-a.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HttpServletRequest nosi sve ulazne podatke: getParameter za polja obrasca/query, getAttribute/setAttribute za request scope, getSession za sesiju, getHeader za zaglavlja, getMethod/getRequestURI za metapodatke.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HttpServletResponse gradi odgovor: setContentType + getWriter za HTML tijelo, setStatus/sendError za statuse, sendRedirect za preusmjeravanje, addHeader/addCookie za zaglavlja i kolačiće. U praksi tijelo gradi Thymeleaf, a ne ručno pisanje HTML-a.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URL se na servlet mapira anotacijom @WebServlet ili u web.xml (servlet + servlet-mapping). Anotacije su moderne i sažete; web.xml centralizira konfiguraciju i potreban je za sigurnosne postavke, filtre i welcome/error stranice.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Thymeleaf je template engine: servlet priprema podatke (model), Thymeleaf ih umeće u HTML predložak. Prednosti: odvajanje logike i prikaza, prirodni (valjani) HTML predlošci, automatski escaping (zaštita od XSS), manje koda od ručnog generiranja HTML-a.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Integracija: jednom konfiguriraj TemplateEngine (resolver s prefiksom /WEB-INF/views/ i sufiksom .html). U doGet/doPost napravi WebContext, postavi varijable (model) i pozovi engine.process(naziv, ctx, writer). Predlošci u WEB-INF nisu izravno dostupni preglednikom.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Najčešći Thymeleaf atributi: th:text (ispis uz escaping), th:each (petlja), th:if/th:unless (uvjet), th:href/th:src s @{...} URL izrazima, th:object/th:field za vezivanje obrazaca, th:action za cilj forme. Razlikovati ${...}, *{...} i @{...}.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Četiri opsega: page (PageContext, samo u JSP-u, jedna stranica), request (HttpServletRequest, jedan zahtjev + forward), session (HttpSession, kroz više zahtjeva istog korisnika), application (ServletContext, cijela aplikacija, svi korisnici). Svi dijele setAttribute/getAttribute.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scope: setAttribute na HttpServletRequest, vidljivo servletu i pogledu nakon forward (isti zahtjev, ista nit). Idealno za prosljeđivanje modela Thymeleaf predlošku. Podaci nestaju po završetku zahtjeva.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scope: HttpSession (getSession) čuva podatke kroz više zahtjeva istog korisnika, identificiranog kolačićem JSESSIONID. Primjeri: prijavljeni korisnik, košarica. invalidate() gasi sesiju (odjava); postoji i timeout.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scope: ServletContext (getServletContext), jedan po aplikaciji, vidljiv svim servletima i korisnicima. Primjeri: konfiguracija, zajednički brojači, cache. Pažnja na thread-safety. Hijerarhija širine: request ⊂ session ⊂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 (RequestDispatcher) je poslužiteljski: isti zahtjev, atributi ostaju, URL nepromijenjen, može do WEB-INF. redirect (sendRedirect) je klijentski: novi zahtjev, atributi nestaju, URL se mijenja. Obrazac PRG: nakon POST-a radi redirect da se forma ne pošalje dvaput.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 ima propisanu strukturu: javni korijen (HTML/CSS/JS/slike) i WEB-INF koji je zaštićen. U WEB-INF su web.xml, predlošci (views), prevedene klase (classes) i JAR ovisnosti (lib). WEB-INF resursima se pristupa samo kroz servlet.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web.xml je deployment descriptor: definira mapiranja servleta, welcome-file (početna), error-page, context-param (globalni parametri) i sigurnosne postavke (security-constraint). Od Servlet 6.0 namespace je jakarta.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Deploy: mvn package gradi WAR, kopiraj ga u &lt;TOMCAT&gt;/webapps/ i pokreni Tomcat (startup), zatim otvori http://localhost:8080/&lt;naziv&gt;/. Tomcat auto-deploy raspakira WAR. Alternative: Manager App ili deploy iz IntelliJ-a / Maven plugina.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Deklarativna sigurnost u web.xml: security-constraint veže url-pattern (npr. /admin/*) uz auth-constraint (dopuštene role). login-config bira način prijave (BASIC ili FORM). security-role deklarira role. Kontejner (Tomcat) provodi provjeru prije servleta.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Tomcat-users.xml (conf/) drži predefinirane role i korisnike s dodijeljenim rolama. Role moraju odgovarati onima u web.xml. Tomcat pri pristupu zaštićenoj putanji traži prijavu i provjerava role. Za produkciju: hashirane lozinke i jači realm (JDBC/LDAP), ne plaintext.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BASIC: preglednikov skočni dijalog, jednostavno ali ograničeno. FORM: vlastita HTML forma (Thymeleaf) s poljima j_username/j_password koja se šalju na j_security_check; puna kontrola izgleda. Oba koriste iste role/korisnike i security-constraint.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Sažetak: servleti su temelj (HttpServlet, ciklus, doGet/doPost), Thymeleaf je pogled, scopeovi nose podatke, Tomcat + web.xml + tomcat-users.xml pokrivaju deploy i sigurnost. Roadmap: ista aplikacija → Spring MVC → Spring Boot u sljedećim predavanjima.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0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10" Type="http://schemas.openxmlformats.org/officeDocument/2006/relationships/image" Target="../media/image8.png"/><Relationship Id="rId4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A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9509760" y="4297680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37160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1572768"/>
            <a:ext cx="466344" cy="4663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024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WEB · SERVLETI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22960" y="24688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Razvoj Java web aplikacija sa Servletima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86868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HttpServlet · zahtjev i odgovor · Thymeleaf · scopeovi · Tomcat · sigurnost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22960" y="5943600"/>
            <a:ext cx="146304" cy="566928"/>
          </a:xfrm>
          <a:prstGeom prst="rect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9" name="Text 5"/>
          <p:cNvSpPr/>
          <p:nvPr/>
        </p:nvSpPr>
        <p:spPr>
          <a:xfrm>
            <a:off x="1097280" y="605790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dr. sc. Aleksander Radovan, prof. struč. stud.
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PREDAVANJA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7" name="Shape 4"/>
          <p:cNvSpPr/>
          <p:nvPr/>
        </p:nvSpPr>
        <p:spPr>
          <a:xfrm>
            <a:off x="914400" y="1865376"/>
            <a:ext cx="749808" cy="74980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20574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1828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Servleti — osnove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874520" y="2286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HttpServlet, životni ciklus, doGet/doPost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15544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2" name="Shape 8"/>
          <p:cNvSpPr/>
          <p:nvPr/>
        </p:nvSpPr>
        <p:spPr>
          <a:xfrm>
            <a:off x="6583680" y="1865376"/>
            <a:ext cx="749808" cy="749808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20574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43800" y="1828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Zahtjev i odgovor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543800" y="2286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HttpServletRequest i HttpServletResponse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21868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7" name="Shape 12"/>
          <p:cNvSpPr/>
          <p:nvPr/>
        </p:nvSpPr>
        <p:spPr>
          <a:xfrm>
            <a:off x="914400" y="3529584"/>
            <a:ext cx="749808" cy="74980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372160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74520" y="34930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Thymeleaf ekrani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1874520" y="39502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predlošci kao pogled (view) servleta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309360" y="321868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2" name="Shape 16"/>
          <p:cNvSpPr/>
          <p:nvPr/>
        </p:nvSpPr>
        <p:spPr>
          <a:xfrm>
            <a:off x="6583680" y="3529584"/>
            <a:ext cx="749808" cy="749808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704" y="3721608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34930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Scopeovi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7543800" y="39502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· request · session · application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40080" y="4882896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7" name="Shape 20"/>
          <p:cNvSpPr/>
          <p:nvPr/>
        </p:nvSpPr>
        <p:spPr>
          <a:xfrm>
            <a:off x="914400" y="5193792"/>
            <a:ext cx="749808" cy="74980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424" y="5385816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874520" y="515721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 na Tomcat</a:t>
            </a:r>
            <a:endParaRPr lang="en-US" sz="1650" dirty="0"/>
          </a:p>
        </p:txBody>
      </p:sp>
      <p:sp>
        <p:nvSpPr>
          <p:cNvPr id="30" name="Text 22"/>
          <p:cNvSpPr/>
          <p:nvPr/>
        </p:nvSpPr>
        <p:spPr>
          <a:xfrm>
            <a:off x="1874520" y="56144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WAR, struktura, web.xml descriptor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309360" y="4882896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32" name="Shape 24"/>
          <p:cNvSpPr/>
          <p:nvPr/>
        </p:nvSpPr>
        <p:spPr>
          <a:xfrm>
            <a:off x="6583680" y="5193792"/>
            <a:ext cx="749808" cy="749808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5704" y="5385816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543800" y="515721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Sigurnost</a:t>
            </a:r>
            <a:endParaRPr lang="en-US" sz="1650" dirty="0"/>
          </a:p>
        </p:txBody>
      </p:sp>
      <p:sp>
        <p:nvSpPr>
          <p:cNvPr id="35" name="Text 26"/>
          <p:cNvSpPr/>
          <p:nvPr/>
        </p:nvSpPr>
        <p:spPr>
          <a:xfrm>
            <a:off x="7543800" y="56144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 + tomcat-users.xml, role i prijava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SERVLETI — OSNOVE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je servlet?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6766560" cy="4251960"/>
          </a:xfrm>
          <a:prstGeom prst="roundRect">
            <a:avLst>
              <a:gd name="adj" fmla="val 1720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7" name="Text 4"/>
          <p:cNvSpPr/>
          <p:nvPr/>
        </p:nvSpPr>
        <p:spPr>
          <a:xfrm>
            <a:off x="960120" y="178308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</a:t>
            </a:r>
            <a:r>
              <a:rPr lang="en-US" sz="14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Java klasa koja se izvršava na </a:t>
            </a:r>
            <a:r>
              <a:rPr lang="en-US" sz="145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poslužitelju</a:t>
            </a:r>
            <a:r>
              <a:rPr lang="en-US" sz="14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(unutar servlet kontejnera) i obrađuje HTTP zahtjeve te generira HTTP odgovore. To je temeljna tehnologija Java web aplikacija (Jakarta EE / Servlet API).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60120" y="2971800"/>
            <a:ext cx="548640" cy="5486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1089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9260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zahtjev–odgovor
</a:t>
            </a:r>
            <a:r>
              <a:rPr lang="en-US" sz="12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Klijent šalje HTTP zahtjev, servlet vraća odgovor (HTML, JSON…).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60120" y="3858768"/>
            <a:ext cx="548640" cy="548640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995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81304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 u kontejneru
</a:t>
            </a:r>
            <a:r>
              <a:rPr lang="en-US" sz="12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upravlja životnim ciklusom, nitima i mrežom.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960120" y="4745736"/>
            <a:ext cx="548640" cy="5486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88289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45920" y="470001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Dinamički sadržaj
</a:t>
            </a:r>
            <a:r>
              <a:rPr lang="en-US" sz="12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razliku od statičkih stranica, odgovor se generira u kodu.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76809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Minimalni servlet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680960" y="1783080"/>
            <a:ext cx="3886200" cy="2834640"/>
          </a:xfrm>
          <a:prstGeom prst="roundRect">
            <a:avLst>
              <a:gd name="adj" fmla="val 2258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9" name="Shape 13"/>
          <p:cNvSpPr/>
          <p:nvPr/>
        </p:nvSpPr>
        <p:spPr>
          <a:xfrm>
            <a:off x="7882128" y="194767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0" name="Shape 14"/>
          <p:cNvSpPr/>
          <p:nvPr/>
        </p:nvSpPr>
        <p:spPr>
          <a:xfrm>
            <a:off x="8046720" y="194767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1" name="Shape 15"/>
          <p:cNvSpPr/>
          <p:nvPr/>
        </p:nvSpPr>
        <p:spPr>
          <a:xfrm>
            <a:off x="8211312" y="194767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2" name="Text 16"/>
          <p:cNvSpPr/>
          <p:nvPr/>
        </p:nvSpPr>
        <p:spPr>
          <a:xfrm>
            <a:off x="8458200" y="18745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Pozdrav.java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936992" y="2203704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@WebServlet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"/pozdrav"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Pozdrav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HttpServlet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doGet(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HttpServletRequest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req,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HttpServletResponse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res)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IOException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res.getWriter()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.write(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"Bok!"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SERVLETI — OSNOVE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Arhitektura: zahtjev i odgovor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3F7CA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7" name="Shape 4"/>
          <p:cNvSpPr/>
          <p:nvPr/>
        </p:nvSpPr>
        <p:spPr>
          <a:xfrm>
            <a:off x="1760220" y="2029968"/>
            <a:ext cx="731520" cy="7315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524" y="2176272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2816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KLIJENT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3108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preglednik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 zahtjev)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26280" y="182880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2" name="Shape 8"/>
          <p:cNvSpPr/>
          <p:nvPr/>
        </p:nvSpPr>
        <p:spPr>
          <a:xfrm>
            <a:off x="5783580" y="2029968"/>
            <a:ext cx="731520" cy="7315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884" y="21762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6280" y="2816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63440" y="3108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kontejner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rutira po URL-u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549640" y="182880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3F7CA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7" name="Shape 12"/>
          <p:cNvSpPr/>
          <p:nvPr/>
        </p:nvSpPr>
        <p:spPr>
          <a:xfrm>
            <a:off x="9806940" y="2029968"/>
            <a:ext cx="731520" cy="7315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3244" y="2176272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49640" y="2816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686800" y="3108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doGet / doPost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generira odgovor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657600" y="22860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2" name="Text 16"/>
          <p:cNvSpPr/>
          <p:nvPr/>
        </p:nvSpPr>
        <p:spPr>
          <a:xfrm>
            <a:off x="7680960" y="22860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502920" y="1536192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zahtjev  →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3611880"/>
            <a:ext cx="11292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HTTP odgovor (HTML)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4069080"/>
            <a:ext cx="3529584" cy="1691640"/>
          </a:xfrm>
          <a:prstGeom prst="roundRect">
            <a:avLst>
              <a:gd name="adj" fmla="val 4324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6" name="Shape 20"/>
          <p:cNvSpPr/>
          <p:nvPr/>
        </p:nvSpPr>
        <p:spPr>
          <a:xfrm>
            <a:off x="896112" y="4315968"/>
            <a:ext cx="512064" cy="512064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444398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27939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Jedan servlet — više zahtjeva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896112" y="49560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Kontejner za svaki zahtjev koristi zasebnu nit; servlet je dijeljen.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361688" y="4069080"/>
            <a:ext cx="3529584" cy="1691640"/>
          </a:xfrm>
          <a:prstGeom prst="roundRect">
            <a:avLst>
              <a:gd name="adj" fmla="val 4324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31" name="Shape 24"/>
          <p:cNvSpPr/>
          <p:nvPr/>
        </p:nvSpPr>
        <p:spPr>
          <a:xfrm>
            <a:off x="4617720" y="4315968"/>
            <a:ext cx="512064" cy="512064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5736" y="444398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76088" y="427939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Pogled (view)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617720" y="49560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podatke prosljeđuje predlošku (Thymeleaf) koji gradi HTML.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083296" y="4069080"/>
            <a:ext cx="3529584" cy="1691640"/>
          </a:xfrm>
          <a:prstGeom prst="roundRect">
            <a:avLst>
              <a:gd name="adj" fmla="val 4324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36" name="Shape 28"/>
          <p:cNvSpPr/>
          <p:nvPr/>
        </p:nvSpPr>
        <p:spPr>
          <a:xfrm>
            <a:off x="8339328" y="4315968"/>
            <a:ext cx="512064" cy="512064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7344" y="4443984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997696" y="427939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Scopeovi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8339328" y="49560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 se dijele kroz request, session i application opseg.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SERVLETI — OSNOVE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Hijerarhija klasa servleta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68680" y="155448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9525">
            <a:solidFill>
              <a:srgbClr val="3F7CA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Text 4"/>
          <p:cNvSpPr/>
          <p:nvPr/>
        </p:nvSpPr>
        <p:spPr>
          <a:xfrm>
            <a:off x="1188720" y="16642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Servlet  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(sučelje)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20116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init() · service() · destroy() — osnovni ugovor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611880" y="243230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2633472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9525">
            <a:solidFill>
              <a:srgbClr val="3F7CA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1" name="Text 8"/>
          <p:cNvSpPr/>
          <p:nvPr/>
        </p:nvSpPr>
        <p:spPr>
          <a:xfrm>
            <a:off x="118872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GenericServlet  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(apstraktna klasa)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30906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neovisna o protokolu; implementira većinu metoda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11880" y="35112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3712464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9525">
            <a:solidFill>
              <a:srgbClr val="3F7CA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 12"/>
          <p:cNvSpPr/>
          <p:nvPr/>
        </p:nvSpPr>
        <p:spPr>
          <a:xfrm>
            <a:off x="1188720" y="3822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HttpServlet  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(apstraktna klasa)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416966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specijalizacija za HTTP: doGet, doPost, doPut…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611880" y="45902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4791456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6F1EA"/>
          </a:solidFill>
          <a:ln w="19050">
            <a:solidFill>
              <a:srgbClr val="E8821E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9" name="Text 16"/>
          <p:cNvSpPr/>
          <p:nvPr/>
        </p:nvSpPr>
        <p:spPr>
          <a:xfrm>
            <a:off x="1188720" y="490118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MojServlet  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(tvoja klasa)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52486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nadjačavaš doGet/doPost prema potrebi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069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/ implements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04088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Tipična deklaracija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040880" y="1874520"/>
            <a:ext cx="4526280" cy="1828800"/>
          </a:xfrm>
          <a:prstGeom prst="roundRect">
            <a:avLst>
              <a:gd name="adj" fmla="val 3500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4" name="Shape 21"/>
          <p:cNvSpPr/>
          <p:nvPr/>
        </p:nvSpPr>
        <p:spPr>
          <a:xfrm>
            <a:off x="7242048" y="203911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5" name="Shape 22"/>
          <p:cNvSpPr/>
          <p:nvPr/>
        </p:nvSpPr>
        <p:spPr>
          <a:xfrm>
            <a:off x="7406640" y="203911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6" name="Shape 23"/>
          <p:cNvSpPr/>
          <p:nvPr/>
        </p:nvSpPr>
        <p:spPr>
          <a:xfrm>
            <a:off x="7571232" y="203911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7" name="Text 24"/>
          <p:cNvSpPr/>
          <p:nvPr/>
        </p:nvSpPr>
        <p:spPr>
          <a:xfrm>
            <a:off x="7818120" y="19659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nasljeđivanje HttpServlet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296912" y="2295144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KorisniciServlet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HttpServlet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nadjačaj samo što treba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doGet(...) {...}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040880" y="3977640"/>
            <a:ext cx="4526280" cy="1737360"/>
          </a:xfrm>
          <a:prstGeom prst="roundRect">
            <a:avLst>
              <a:gd name="adj" fmla="val 4211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30" name="Shape 27"/>
          <p:cNvSpPr/>
          <p:nvPr/>
        </p:nvSpPr>
        <p:spPr>
          <a:xfrm>
            <a:off x="7315200" y="4224528"/>
            <a:ext cx="530352" cy="53035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788" y="4357116"/>
            <a:ext cx="265176" cy="26517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955280" y="41148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praksi</a:t>
            </a: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gotovo uvijek nasljeđuješ </a:t>
            </a:r>
            <a:r>
              <a:rPr lang="en-US" sz="11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HttpServlet</a:t>
            </a: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nadjačavaš samo HTTP metode koje su ti potrebne (npr. doGet i doPost).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SERVLETI — OSNOVE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Životni ciklus servleta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68680" y="182880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3F7CA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7" name="Shape 4"/>
          <p:cNvSpPr/>
          <p:nvPr/>
        </p:nvSpPr>
        <p:spPr>
          <a:xfrm>
            <a:off x="2176272" y="205740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221284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init()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9728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Jednom, pri prvom učitavanju (ili startu). Inicijalizacija resursa.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691640" y="1517904"/>
            <a:ext cx="1737360" cy="292608"/>
          </a:xfrm>
          <a:prstGeom prst="roundRect">
            <a:avLst>
              <a:gd name="adj" fmla="val 31250"/>
            </a:avLst>
          </a:prstGeom>
          <a:solidFill>
            <a:srgbClr val="2E241C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2" name="Text 8"/>
          <p:cNvSpPr/>
          <p:nvPr/>
        </p:nvSpPr>
        <p:spPr>
          <a:xfrm>
            <a:off x="1691640" y="15179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jednom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06240" y="24688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4754880" y="182880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5" name="Shape 11"/>
          <p:cNvSpPr/>
          <p:nvPr/>
        </p:nvSpPr>
        <p:spPr>
          <a:xfrm>
            <a:off x="6062472" y="205740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21284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service()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98348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svakom zahtjevu. Poziva doGet / doPost prema HTTP metodi.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77840" y="1517904"/>
            <a:ext cx="1737360" cy="292608"/>
          </a:xfrm>
          <a:prstGeom prst="roundRect">
            <a:avLst>
              <a:gd name="adj" fmla="val 31250"/>
            </a:avLst>
          </a:prstGeom>
          <a:solidFill>
            <a:srgbClr val="2E241C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0" name="Text 15"/>
          <p:cNvSpPr/>
          <p:nvPr/>
        </p:nvSpPr>
        <p:spPr>
          <a:xfrm>
            <a:off x="5577840" y="15179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zahtjev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092440" y="24688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8641080" y="182880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3F7CA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3" name="Shape 18"/>
          <p:cNvSpPr/>
          <p:nvPr/>
        </p:nvSpPr>
        <p:spPr>
          <a:xfrm>
            <a:off x="9948672" y="205740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221284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4108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destroy()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86968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Jednom, pri gašenju ili uklanjanju servleta. Oslobađanje resursa.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464040" y="1517904"/>
            <a:ext cx="1737360" cy="292608"/>
          </a:xfrm>
          <a:prstGeom prst="roundRect">
            <a:avLst>
              <a:gd name="adj" fmla="val 31250"/>
            </a:avLst>
          </a:prstGeom>
          <a:solidFill>
            <a:srgbClr val="2E241C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8" name="Text 22"/>
          <p:cNvSpPr/>
          <p:nvPr/>
        </p:nvSpPr>
        <p:spPr>
          <a:xfrm>
            <a:off x="9464040" y="15179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jednom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868680" y="4297680"/>
            <a:ext cx="10698480" cy="1463040"/>
          </a:xfrm>
          <a:prstGeom prst="roundRect">
            <a:avLst>
              <a:gd name="adj" fmla="val 4375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30" name="Shape 24"/>
          <p:cNvSpPr/>
          <p:nvPr/>
        </p:nvSpPr>
        <p:spPr>
          <a:xfrm>
            <a:off x="1069848" y="446227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1" name="Shape 25"/>
          <p:cNvSpPr/>
          <p:nvPr/>
        </p:nvSpPr>
        <p:spPr>
          <a:xfrm>
            <a:off x="1234440" y="446227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2" name="Shape 26"/>
          <p:cNvSpPr/>
          <p:nvPr/>
        </p:nvSpPr>
        <p:spPr>
          <a:xfrm>
            <a:off x="1399032" y="446227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3" name="Text 27"/>
          <p:cNvSpPr/>
          <p:nvPr/>
        </p:nvSpPr>
        <p:spPr>
          <a:xfrm>
            <a:off x="1645920" y="43891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 ključne metode životnog ciklusa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1124712" y="4718304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init() {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npr. otvori vezu na bazu */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doGet(HttpServletRequest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req, 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HttpServletResponse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res) {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obrada */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destroy() {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oslobodi resurse */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SERVLETI — OSNOVE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metode: doGet, doPost…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10908792" cy="457200"/>
          </a:xfrm>
          <a:prstGeom prst="roundRect">
            <a:avLst>
              <a:gd name="adj" fmla="val 10000"/>
            </a:avLst>
          </a:prstGeom>
          <a:solidFill>
            <a:srgbClr val="211A15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7" name="Text 4"/>
          <p:cNvSpPr/>
          <p:nvPr/>
        </p:nvSpPr>
        <p:spPr>
          <a:xfrm>
            <a:off x="86868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97180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93776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Tipična namjena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920240"/>
            <a:ext cx="1090879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1" name="Text 8"/>
          <p:cNvSpPr/>
          <p:nvPr/>
        </p:nvSpPr>
        <p:spPr>
          <a:xfrm>
            <a:off x="868680" y="1920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doGet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71800" y="1920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5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19202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dohvat / prikaz podataka (idempotentno, bez promjene stanja)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487168"/>
            <a:ext cx="10908792" cy="566928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 12"/>
          <p:cNvSpPr/>
          <p:nvPr/>
        </p:nvSpPr>
        <p:spPr>
          <a:xfrm>
            <a:off x="868680" y="24871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doPost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71800" y="24871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5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248716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slanje obrasca, kreiranje resursa, promjena stanja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054096"/>
            <a:ext cx="1090879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9" name="Text 16"/>
          <p:cNvSpPr/>
          <p:nvPr/>
        </p:nvSpPr>
        <p:spPr>
          <a:xfrm>
            <a:off x="868680" y="30540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doPut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971800" y="30540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5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37760" y="305409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ažuriranje/zamjena resursa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3621024"/>
            <a:ext cx="10908792" cy="566928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3" name="Text 20"/>
          <p:cNvSpPr/>
          <p:nvPr/>
        </p:nvSpPr>
        <p:spPr>
          <a:xfrm>
            <a:off x="868680" y="36210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doDelete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971800" y="362102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5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37760" y="3621024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brisanje resursa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4187952"/>
            <a:ext cx="1090879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7" name="Text 24"/>
          <p:cNvSpPr/>
          <p:nvPr/>
        </p:nvSpPr>
        <p:spPr>
          <a:xfrm>
            <a:off x="868680" y="418795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971800" y="41879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5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37760" y="418795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dispečer: kontejner poziva ovu metodu, ona delegira doXxx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4943971"/>
            <a:ext cx="10908792" cy="1097280"/>
          </a:xfrm>
          <a:prstGeom prst="roundRect">
            <a:avLst>
              <a:gd name="adj" fmla="val 6667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31" name="Shape 28"/>
          <p:cNvSpPr/>
          <p:nvPr/>
        </p:nvSpPr>
        <p:spPr>
          <a:xfrm>
            <a:off x="914400" y="5190859"/>
            <a:ext cx="548640" cy="548640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328019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645920" y="5081131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nadjačavaj service() </a:t>
            </a: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osim u posebnim slučajevima — ona već ispravno usmjerava na doGet/doPost prema HTTP metodi zahtjeva. Nadjačaj konkretne doXxx metode.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ZAHTJEV I ODGOVOR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HttpServletRequest — ulazni podaci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Predstavlja dolazni HTTP zahtjev: parametre, zaglavlja, sesiju, atribute i metapodatke.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6400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8" name="Text 5"/>
          <p:cNvSpPr/>
          <p:nvPr/>
        </p:nvSpPr>
        <p:spPr>
          <a:xfrm>
            <a:off x="777240" y="17373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getParameter(ime)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977640" y="17373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vrijednost polja obrasca / query parametra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304288"/>
            <a:ext cx="6400800" cy="566928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1" name="Text 8"/>
          <p:cNvSpPr/>
          <p:nvPr/>
        </p:nvSpPr>
        <p:spPr>
          <a:xfrm>
            <a:off x="777240" y="230428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getParameterValues(ime)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977640" y="230428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više vrijednosti (npr. checkbox)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871216"/>
            <a:ext cx="6400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1"/>
          <p:cNvSpPr/>
          <p:nvPr/>
        </p:nvSpPr>
        <p:spPr>
          <a:xfrm>
            <a:off x="777240" y="28712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getAttribute(ime)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977640" y="28712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iz request scopea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438144"/>
            <a:ext cx="6400800" cy="566928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7" name="Text 14"/>
          <p:cNvSpPr/>
          <p:nvPr/>
        </p:nvSpPr>
        <p:spPr>
          <a:xfrm>
            <a:off x="777240" y="34381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setAttribute(ime, v)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977640" y="34381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postavi atribut za prosljeđivanje pogledu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4005072"/>
            <a:ext cx="6400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0" name="Text 17"/>
          <p:cNvSpPr/>
          <p:nvPr/>
        </p:nvSpPr>
        <p:spPr>
          <a:xfrm>
            <a:off x="777240" y="40050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getSession()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977640" y="40050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dohvati (ili stvori) HttpSession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4572000"/>
            <a:ext cx="6400800" cy="566928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3" name="Text 20"/>
          <p:cNvSpPr/>
          <p:nvPr/>
        </p:nvSpPr>
        <p:spPr>
          <a:xfrm>
            <a:off x="777240" y="45720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getHeader(ime)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977640" y="45720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zaglavlje (npr. User-Agent)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0080" y="5138928"/>
            <a:ext cx="6400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6" name="Text 23"/>
          <p:cNvSpPr/>
          <p:nvPr/>
        </p:nvSpPr>
        <p:spPr>
          <a:xfrm>
            <a:off x="777240" y="51389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getMethod() / getRequestURI()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977640" y="51389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metoda / putanja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3152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Čitanje obrasca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315200" y="2029968"/>
            <a:ext cx="4251960" cy="1874520"/>
          </a:xfrm>
          <a:prstGeom prst="roundRect">
            <a:avLst>
              <a:gd name="adj" fmla="val 3415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30" name="Shape 27"/>
          <p:cNvSpPr/>
          <p:nvPr/>
        </p:nvSpPr>
        <p:spPr>
          <a:xfrm>
            <a:off x="7516368" y="2194560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1" name="Shape 28"/>
          <p:cNvSpPr/>
          <p:nvPr/>
        </p:nvSpPr>
        <p:spPr>
          <a:xfrm>
            <a:off x="7680960" y="2194560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2" name="Shape 29"/>
          <p:cNvSpPr/>
          <p:nvPr/>
        </p:nvSpPr>
        <p:spPr>
          <a:xfrm>
            <a:off x="7845552" y="2194560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3" name="Text 30"/>
          <p:cNvSpPr/>
          <p:nvPr/>
        </p:nvSpPr>
        <p:spPr>
          <a:xfrm>
            <a:off x="8092440" y="21214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doPost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571232" y="2450592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doPost(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HttpServletRequest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req,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HttpServletResponse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res) {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ime =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req.getParameter(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"ime"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req.setAttribute(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"poz"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ime);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3152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 i zaglavlja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7315200" y="4361688"/>
            <a:ext cx="4251960" cy="1371600"/>
          </a:xfrm>
          <a:prstGeom prst="roundRect">
            <a:avLst>
              <a:gd name="adj" fmla="val 4667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37" name="Shape 34"/>
          <p:cNvSpPr/>
          <p:nvPr/>
        </p:nvSpPr>
        <p:spPr>
          <a:xfrm>
            <a:off x="7516368" y="4526280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8" name="Shape 35"/>
          <p:cNvSpPr/>
          <p:nvPr/>
        </p:nvSpPr>
        <p:spPr>
          <a:xfrm>
            <a:off x="7680960" y="4526280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9" name="Shape 36"/>
          <p:cNvSpPr/>
          <p:nvPr/>
        </p:nvSpPr>
        <p:spPr>
          <a:xfrm>
            <a:off x="7845552" y="4526280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40" name="Text 37"/>
          <p:cNvSpPr/>
          <p:nvPr/>
        </p:nvSpPr>
        <p:spPr>
          <a:xfrm>
            <a:off x="8092440" y="44531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getSession · getHeader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571232" y="478231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HttpSession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= req.getSession();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ua = req.getHeader(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"User-Agent"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ZAHTJEV I ODGOVOR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HttpServletResponse — izlazni podaci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Predstavlja odlazni HTTP odgovor: tijelo, status, zaglavlja, kolačiće i preusmjeravanja.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6400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8" name="Text 5"/>
          <p:cNvSpPr/>
          <p:nvPr/>
        </p:nvSpPr>
        <p:spPr>
          <a:xfrm>
            <a:off x="777240" y="17373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setContentType(t)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977640" y="17373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npr. "text/html;charset=UTF-8"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304288"/>
            <a:ext cx="6400800" cy="566928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1" name="Text 8"/>
          <p:cNvSpPr/>
          <p:nvPr/>
        </p:nvSpPr>
        <p:spPr>
          <a:xfrm>
            <a:off x="777240" y="230428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getWriter()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977640" y="230428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PrintWriter za pisanje tijela odgovora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871216"/>
            <a:ext cx="6400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1"/>
          <p:cNvSpPr/>
          <p:nvPr/>
        </p:nvSpPr>
        <p:spPr>
          <a:xfrm>
            <a:off x="777240" y="28712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setStatus(kod)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977640" y="28712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statusni kod (npr. 200, 404)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438144"/>
            <a:ext cx="6400800" cy="566928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7" name="Text 14"/>
          <p:cNvSpPr/>
          <p:nvPr/>
        </p:nvSpPr>
        <p:spPr>
          <a:xfrm>
            <a:off x="777240" y="34381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sendRedirect(url)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977640" y="34381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preusmjeri klijenta (302) na drugi URL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4005072"/>
            <a:ext cx="6400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0" name="Text 17"/>
          <p:cNvSpPr/>
          <p:nvPr/>
        </p:nvSpPr>
        <p:spPr>
          <a:xfrm>
            <a:off x="777240" y="40050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addHeader(ime, v)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977640" y="40050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HTTP zaglavlje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4572000"/>
            <a:ext cx="6400800" cy="566928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3" name="Text 20"/>
          <p:cNvSpPr/>
          <p:nvPr/>
        </p:nvSpPr>
        <p:spPr>
          <a:xfrm>
            <a:off x="777240" y="45720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addCookie(cookie)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977640" y="45720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postavi kolačić u odgovor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0080" y="5138928"/>
            <a:ext cx="6400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6" name="Text 23"/>
          <p:cNvSpPr/>
          <p:nvPr/>
        </p:nvSpPr>
        <p:spPr>
          <a:xfrm>
            <a:off x="777240" y="51389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sendError(kod, por)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977640" y="51389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pošalji pogrešku (npr. 403, 500)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3152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Pisanje HTML-a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315200" y="2029968"/>
            <a:ext cx="4251960" cy="1874520"/>
          </a:xfrm>
          <a:prstGeom prst="roundRect">
            <a:avLst>
              <a:gd name="adj" fmla="val 3415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30" name="Shape 27"/>
          <p:cNvSpPr/>
          <p:nvPr/>
        </p:nvSpPr>
        <p:spPr>
          <a:xfrm>
            <a:off x="7516368" y="2194560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1" name="Shape 28"/>
          <p:cNvSpPr/>
          <p:nvPr/>
        </p:nvSpPr>
        <p:spPr>
          <a:xfrm>
            <a:off x="7680960" y="2194560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2" name="Shape 29"/>
          <p:cNvSpPr/>
          <p:nvPr/>
        </p:nvSpPr>
        <p:spPr>
          <a:xfrm>
            <a:off x="7845552" y="2194560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3" name="Text 30"/>
          <p:cNvSpPr/>
          <p:nvPr/>
        </p:nvSpPr>
        <p:spPr>
          <a:xfrm>
            <a:off x="8092440" y="21214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getWriter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571232" y="2450592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res.setContentType(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"text/html;charset=UTF-8"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PrintWriter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 = res.getWriter();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out.println(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"&lt;h1&gt;Bok!&lt;/h1&gt;"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3152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Preusmjeravanje (redirect)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7315200" y="4361688"/>
            <a:ext cx="4251960" cy="1371600"/>
          </a:xfrm>
          <a:prstGeom prst="roundRect">
            <a:avLst>
              <a:gd name="adj" fmla="val 4667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37" name="Shape 34"/>
          <p:cNvSpPr/>
          <p:nvPr/>
        </p:nvSpPr>
        <p:spPr>
          <a:xfrm>
            <a:off x="7516368" y="4526280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8" name="Shape 35"/>
          <p:cNvSpPr/>
          <p:nvPr/>
        </p:nvSpPr>
        <p:spPr>
          <a:xfrm>
            <a:off x="7680960" y="4526280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9" name="Shape 36"/>
          <p:cNvSpPr/>
          <p:nvPr/>
        </p:nvSpPr>
        <p:spPr>
          <a:xfrm>
            <a:off x="7845552" y="4526280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40" name="Text 37"/>
          <p:cNvSpPr/>
          <p:nvPr/>
        </p:nvSpPr>
        <p:spPr>
          <a:xfrm>
            <a:off x="8092440" y="44531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sendRedirect (302)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571232" y="478231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res.sendRedirect(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req.getContextPath()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"/popis"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ZAHTJEV I ODGOVOR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Mapiranje servleta na URL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načina povezivanja URL-a sa servletom: anotacija @WebServlet ili web.xml descriptor.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1842516"/>
            <a:ext cx="24688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Anotacija @WebServlet (moderno)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2313432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1" name="Shape 7"/>
          <p:cNvSpPr/>
          <p:nvPr/>
        </p:nvSpPr>
        <p:spPr>
          <a:xfrm>
            <a:off x="841248" y="2478024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2" name="Shape 8"/>
          <p:cNvSpPr/>
          <p:nvPr/>
        </p:nvSpPr>
        <p:spPr>
          <a:xfrm>
            <a:off x="1005840" y="2478024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3" name="Shape 9"/>
          <p:cNvSpPr/>
          <p:nvPr/>
        </p:nvSpPr>
        <p:spPr>
          <a:xfrm>
            <a:off x="1170432" y="2478024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4" name="Text 10"/>
          <p:cNvSpPr/>
          <p:nvPr/>
        </p:nvSpPr>
        <p:spPr>
          <a:xfrm>
            <a:off x="1417320" y="24048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unutar klase servleta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96112" y="2734056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@WebServlet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"/korisnici"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KorisniciServlet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HttpServlet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55080" y="1737360"/>
            <a:ext cx="457200" cy="457200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236" y="184251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web.xml descriptor (klasično)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355080" y="2313432"/>
            <a:ext cx="5212080" cy="2103120"/>
          </a:xfrm>
          <a:prstGeom prst="roundRect">
            <a:avLst>
              <a:gd name="adj" fmla="val 3043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0" name="Shape 15"/>
          <p:cNvSpPr/>
          <p:nvPr/>
        </p:nvSpPr>
        <p:spPr>
          <a:xfrm>
            <a:off x="6556248" y="2478024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1" name="Shape 16"/>
          <p:cNvSpPr/>
          <p:nvPr/>
        </p:nvSpPr>
        <p:spPr>
          <a:xfrm>
            <a:off x="6720840" y="2478024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2" name="Shape 17"/>
          <p:cNvSpPr/>
          <p:nvPr/>
        </p:nvSpPr>
        <p:spPr>
          <a:xfrm>
            <a:off x="6885432" y="2478024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3" name="Text 18"/>
          <p:cNvSpPr/>
          <p:nvPr/>
        </p:nvSpPr>
        <p:spPr>
          <a:xfrm>
            <a:off x="7132320" y="24048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WEB-INF/web.xml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611112" y="2734056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&lt;servlet&gt;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&lt;servlet-name&gt;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kor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&lt;/servlet-name&gt;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&lt;servlet-class&gt;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hr...Korisnici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&lt;/servlet-class&gt;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&lt;/servlet&gt;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&lt;servlet-mapping&gt;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&lt;servlet-name&gt;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kor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&lt;/servlet-name&gt;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&lt;url-pattern&gt;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/korisnici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&lt;/url-pattern&gt;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&lt;/servlet-mapping&gt;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0080" y="4590288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6" name="Shape 21"/>
          <p:cNvSpPr/>
          <p:nvPr/>
        </p:nvSpPr>
        <p:spPr>
          <a:xfrm>
            <a:off x="914400" y="4818888"/>
            <a:ext cx="548640" cy="5486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95604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45920" y="470916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 pristupa rade. </a:t>
            </a: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Anotacije su sažetije i drže konfiguraciju uz kod. </a:t>
            </a:r>
            <a:r>
              <a:rPr lang="en-US" sz="120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web.xml</a:t>
            </a: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centralizira konfiguraciju i nužan je za neke postavke (sigurnost, filtre, welcome-file, error-page). U ovom predavanju koristit ćemo web.xml jer nam treba i za sigurnosne postavke.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EKRANI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— pogled (view)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6766560" cy="2286000"/>
          </a:xfrm>
          <a:prstGeom prst="roundRect">
            <a:avLst>
              <a:gd name="adj" fmla="val 3200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7" name="Text 4"/>
          <p:cNvSpPr/>
          <p:nvPr/>
        </p:nvSpPr>
        <p:spPr>
          <a:xfrm>
            <a:off x="960120" y="178308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Java predložak (template engine) za generiranje HTML-a. Servlet priprema podatke, a Thymeleaf ih ugrađuje u </a:t>
            </a:r>
            <a:r>
              <a:rPr lang="en-US" sz="140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prirodni HTML predložak</a:t>
            </a: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datoteku koja se može otvoriti i u pregledniku bez poslužitelja.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3154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Thymeleaf umjesto pisanja HTML-a u servletu? Razdvaja logiku od prikaza.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512064" cy="512064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15137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39776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Odvajanje logike i prikaza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= obrada, predložak = HTML.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069080" y="4023360"/>
            <a:ext cx="512064" cy="512064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96" y="415137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90872" y="39776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Prirodni predlošci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Valjan HTML; dizajner ga vidi bez servera.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892040"/>
            <a:ext cx="512064" cy="512064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502005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48463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 ispisivanje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Automatski escaping sprječava XSS.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069080" y="4892040"/>
            <a:ext cx="512064" cy="512064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096" y="502005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690872" y="48463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Manje koda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ručnog out.println("&lt;...&gt;").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76809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Predložak (HTML)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680960" y="1783080"/>
            <a:ext cx="3886200" cy="3931920"/>
          </a:xfrm>
          <a:prstGeom prst="roundRect">
            <a:avLst>
              <a:gd name="adj" fmla="val 1647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3" name="Shape 16"/>
          <p:cNvSpPr/>
          <p:nvPr/>
        </p:nvSpPr>
        <p:spPr>
          <a:xfrm>
            <a:off x="7882128" y="194767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4" name="Shape 17"/>
          <p:cNvSpPr/>
          <p:nvPr/>
        </p:nvSpPr>
        <p:spPr>
          <a:xfrm>
            <a:off x="8046720" y="194767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5" name="Shape 18"/>
          <p:cNvSpPr/>
          <p:nvPr/>
        </p:nvSpPr>
        <p:spPr>
          <a:xfrm>
            <a:off x="8211312" y="194767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6" name="Text 19"/>
          <p:cNvSpPr/>
          <p:nvPr/>
        </p:nvSpPr>
        <p:spPr>
          <a:xfrm>
            <a:off x="8458200" y="18745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pozdrav.html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7936992" y="2203704"/>
            <a:ext cx="3429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xmlns:th=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"http://www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.thymeleaf.org"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th:text=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"${poruka}"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Zdravo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&lt;/h1&gt;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6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&lt;li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th:each=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 :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${korisnici}"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th:text=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"${k}"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&lt;/li&gt;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&lt;/body&gt;&lt;/html&gt;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EKRANI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Integracija Thymeleafa sa servletom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Postavlja se TemplateEngine (jednom), a u servletu se gradi WebContext s modelom i renderira predložak.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Inicijalizacija engine-a (init / ServletContextListener)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993392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9" name="Shape 6"/>
          <p:cNvSpPr/>
          <p:nvPr/>
        </p:nvSpPr>
        <p:spPr>
          <a:xfrm>
            <a:off x="841248" y="2157984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0" name="Shape 7"/>
          <p:cNvSpPr/>
          <p:nvPr/>
        </p:nvSpPr>
        <p:spPr>
          <a:xfrm>
            <a:off x="1005840" y="2157984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1" name="Shape 8"/>
          <p:cNvSpPr/>
          <p:nvPr/>
        </p:nvSpPr>
        <p:spPr>
          <a:xfrm>
            <a:off x="1170432" y="2157984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2" name="Text 9"/>
          <p:cNvSpPr/>
          <p:nvPr/>
        </p:nvSpPr>
        <p:spPr>
          <a:xfrm>
            <a:off x="1417320" y="20848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konfiguracija TemplateEngine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96112" y="2414016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resolver =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ServletContextTemplateResolver(ctx);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resolver.setPrefix(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"/WEB-INF/views/"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resolver.setSuffix(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".html"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resolver.setTemplateMode(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"HTML"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engine =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TemplateEngine();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engine.setTemplateResolver(resolver);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0936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Renderiranje u doGet/doPost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1993392"/>
            <a:ext cx="5257800" cy="2103120"/>
          </a:xfrm>
          <a:prstGeom prst="roundRect">
            <a:avLst>
              <a:gd name="adj" fmla="val 3043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6" name="Shape 13"/>
          <p:cNvSpPr/>
          <p:nvPr/>
        </p:nvSpPr>
        <p:spPr>
          <a:xfrm>
            <a:off x="6510528" y="2157984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7" name="Shape 14"/>
          <p:cNvSpPr/>
          <p:nvPr/>
        </p:nvSpPr>
        <p:spPr>
          <a:xfrm>
            <a:off x="6675120" y="2157984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8" name="Shape 15"/>
          <p:cNvSpPr/>
          <p:nvPr/>
        </p:nvSpPr>
        <p:spPr>
          <a:xfrm>
            <a:off x="6839712" y="2157984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9" name="Text 16"/>
          <p:cNvSpPr/>
          <p:nvPr/>
        </p:nvSpPr>
        <p:spPr>
          <a:xfrm>
            <a:off x="7086600" y="20848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WebContext + engine.process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65392" y="2414016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ctx =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WebContext(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req, res, getServletContext());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ctx.setVariable(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"poruka"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"Bok!"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ctx.setVariable(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"korisnici"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popis);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6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res.setContentType(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"text/html"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engine.process(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"pozdrav"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ctx,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res.getWriter());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429768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2" name="Shape 19"/>
          <p:cNvSpPr/>
          <p:nvPr/>
        </p:nvSpPr>
        <p:spPr>
          <a:xfrm>
            <a:off x="914400" y="4553712"/>
            <a:ext cx="548640" cy="5486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69087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645920" y="4370832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Predlošci u /WEB-INF/views/ </a:t>
            </a: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nisu izravno dostupni preglednikom (WEB-INF je zaštićen) — do njih se dolazi isključivo kroz servlet. </a:t>
            </a:r>
            <a:r>
              <a:rPr lang="en-US" sz="1150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engine.process("pozdrav", ...) </a:t>
            </a: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učita /WEB-INF/views/pozdrav.html.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EKRANI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— osnovni atributi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10908792" cy="457200"/>
          </a:xfrm>
          <a:prstGeom prst="roundRect">
            <a:avLst>
              <a:gd name="adj" fmla="val 10000"/>
            </a:avLst>
          </a:prstGeom>
          <a:solidFill>
            <a:srgbClr val="211A15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7" name="Text 4"/>
          <p:cNvSpPr/>
          <p:nvPr/>
        </p:nvSpPr>
        <p:spPr>
          <a:xfrm>
            <a:off x="86868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24612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Čini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7804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Primjer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920240"/>
            <a:ext cx="109087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1" name="Text 8"/>
          <p:cNvSpPr/>
          <p:nvPr/>
        </p:nvSpPr>
        <p:spPr>
          <a:xfrm>
            <a:off x="868680" y="19202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th:text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246120" y="192024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ispisuje vrijednost (uz escaping)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78040" y="192024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th:text="${ime}"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2523744"/>
            <a:ext cx="10908792" cy="603504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 12"/>
          <p:cNvSpPr/>
          <p:nvPr/>
        </p:nvSpPr>
        <p:spPr>
          <a:xfrm>
            <a:off x="868680" y="252374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th:each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246120" y="252374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petlja po kolekciji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178040" y="252374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th:each="k : ${korisnici}"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3127248"/>
            <a:ext cx="109087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9" name="Text 16"/>
          <p:cNvSpPr/>
          <p:nvPr/>
        </p:nvSpPr>
        <p:spPr>
          <a:xfrm>
            <a:off x="868680" y="31272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th:if / th:unless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246120" y="312724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uvjetni prikaz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178040" y="312724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th:if="${prijavljen}"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3730752"/>
            <a:ext cx="10908792" cy="603504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3" name="Text 20"/>
          <p:cNvSpPr/>
          <p:nvPr/>
        </p:nvSpPr>
        <p:spPr>
          <a:xfrm>
            <a:off x="868680" y="373075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th:href / th:src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246120" y="373075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dinamička poveznica / izvor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178040" y="373075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th:href="@{/popis}"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4334256"/>
            <a:ext cx="109087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7" name="Text 24"/>
          <p:cNvSpPr/>
          <p:nvPr/>
        </p:nvSpPr>
        <p:spPr>
          <a:xfrm>
            <a:off x="868680" y="433425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th:object / th:field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3246120" y="433425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vezivanje obrasca na objekt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178040" y="4334256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th:field="*{ime}"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40080" y="4937760"/>
            <a:ext cx="10908792" cy="603504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1" name="Text 28"/>
          <p:cNvSpPr/>
          <p:nvPr/>
        </p:nvSpPr>
        <p:spPr>
          <a:xfrm>
            <a:off x="868680" y="49377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th:action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3246120" y="493776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 obrasca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7178040" y="493776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th:action="@{/spremi}"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@{...} gradi URL relativno na kontekst aplikacije · ${...} čita varijablu iz modela · *{...} polje vezanog objekta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SCOPEOVI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Četiri opsega (scope) podataka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Opseg određuje koliko dugo i kome su atributi vidljivi. Od najužeg (page) do najšireg (application).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10000"/>
            </a:avLst>
          </a:prstGeom>
          <a:solidFill>
            <a:srgbClr val="211A15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1752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 / pristup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Trajanje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Vidljivost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240280"/>
            <a:ext cx="109087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3" name="Text 10"/>
          <p:cNvSpPr/>
          <p:nvPr/>
        </p:nvSpPr>
        <p:spPr>
          <a:xfrm>
            <a:off x="868680" y="224028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17520" y="22402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PageContext (JSP)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22402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stranica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144000" y="224028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 trenutni predložak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2990088"/>
            <a:ext cx="10908792" cy="749808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8" name="Text 15"/>
          <p:cNvSpPr/>
          <p:nvPr/>
        </p:nvSpPr>
        <p:spPr>
          <a:xfrm>
            <a:off x="868680" y="299008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017520" y="299008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HttpServletRequest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0" y="299008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jedan zahtjev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144000" y="2990088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+ proslijeđeni pogled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3739896"/>
            <a:ext cx="109087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3" name="Text 20"/>
          <p:cNvSpPr/>
          <p:nvPr/>
        </p:nvSpPr>
        <p:spPr>
          <a:xfrm>
            <a:off x="868680" y="373989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017520" y="373989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HttpSession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0" y="373989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 korisnika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144000" y="373989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zahtjevi tog korisnika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4489704"/>
            <a:ext cx="10908792" cy="749808"/>
          </a:xfrm>
          <a:prstGeom prst="rect">
            <a:avLst/>
          </a:prstGeom>
          <a:solidFill>
            <a:srgbClr val="F6F1EA"/>
          </a:solidFill>
          <a:ln w="6350">
            <a:solidFill>
              <a:srgbClr val="E4DCD2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8" name="Text 25"/>
          <p:cNvSpPr/>
          <p:nvPr/>
        </p:nvSpPr>
        <p:spPr>
          <a:xfrm>
            <a:off x="868680" y="448970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017520" y="448970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ServletContext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0" y="448970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cijela aplikacija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9144000" y="4489704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korisnici i servleti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koriste isti obrazac: setAttribute(ime, vrijednost) i getAttribute(ime).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SCOPEOVI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scope — jedan zahtjev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4526280" cy="4206240"/>
          </a:xfrm>
          <a:prstGeom prst="roundRect">
            <a:avLst>
              <a:gd name="adj" fmla="val 1739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7" name="Shape 4"/>
          <p:cNvSpPr/>
          <p:nvPr/>
        </p:nvSpPr>
        <p:spPr>
          <a:xfrm>
            <a:off x="914400" y="1783080"/>
            <a:ext cx="603504" cy="603504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92938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8105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Vrijedi do kraja zahtjeva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14400" y="25146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Atributi postavljeni na </a:t>
            </a:r>
            <a:r>
              <a:rPr lang="en-US" sz="110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HttpServletRequest</a:t>
            </a: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vidljivi su servletu i pogledu kojem se zahtjev </a:t>
            </a:r>
            <a:r>
              <a:rPr lang="en-US" sz="125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proslijedi</a:t>
            </a: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(forward). Nakon što odgovor ode klijentu — nestaju.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14400" y="39776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Tipično: prijenos podataka iz servleta u Thymeleaf predložak za jedan prikaz.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4068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Postavljanje i prosljeđivanje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40680" y="1810512"/>
            <a:ext cx="6126480" cy="2286000"/>
          </a:xfrm>
          <a:prstGeom prst="roundRect">
            <a:avLst>
              <a:gd name="adj" fmla="val 2800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4" name="Shape 10"/>
          <p:cNvSpPr/>
          <p:nvPr/>
        </p:nvSpPr>
        <p:spPr>
          <a:xfrm>
            <a:off x="5641848" y="1975104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5" name="Shape 11"/>
          <p:cNvSpPr/>
          <p:nvPr/>
        </p:nvSpPr>
        <p:spPr>
          <a:xfrm>
            <a:off x="5806440" y="1975104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6" name="Shape 12"/>
          <p:cNvSpPr/>
          <p:nvPr/>
        </p:nvSpPr>
        <p:spPr>
          <a:xfrm>
            <a:off x="5971032" y="1975104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7" name="Text 13"/>
          <p:cNvSpPr/>
          <p:nvPr/>
        </p:nvSpPr>
        <p:spPr>
          <a:xfrm>
            <a:off x="6217920" y="1901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setAttribute + forward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696712" y="2231136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doGet(HttpServletRequest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req,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HttpServletResponse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res) ... {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popis = servis.dohvatiKorisnike();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req.setAttribute(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"korisnici"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popis);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6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proslijedi pogledu (isti zahtjev)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req.getRequestDispatcher(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"/WEB-INF/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views/popis.jsp"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).forward(req, res);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40680" y="4297680"/>
            <a:ext cx="6126480" cy="1417320"/>
          </a:xfrm>
          <a:prstGeom prst="roundRect">
            <a:avLst>
              <a:gd name="adj" fmla="val 4516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0" name="Shape 16"/>
          <p:cNvSpPr/>
          <p:nvPr/>
        </p:nvSpPr>
        <p:spPr>
          <a:xfrm>
            <a:off x="5641848" y="446227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1" name="Shape 17"/>
          <p:cNvSpPr/>
          <p:nvPr/>
        </p:nvSpPr>
        <p:spPr>
          <a:xfrm>
            <a:off x="5806440" y="446227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2" name="Shape 18"/>
          <p:cNvSpPr/>
          <p:nvPr/>
        </p:nvSpPr>
        <p:spPr>
          <a:xfrm>
            <a:off x="5971032" y="446227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3" name="Text 19"/>
          <p:cNvSpPr/>
          <p:nvPr/>
        </p:nvSpPr>
        <p:spPr>
          <a:xfrm>
            <a:off x="6217920" y="4389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pogled чита isti atribut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696712" y="4718304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u pogledu: čita request atribut --&gt;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th:each=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 : ${korisnici}"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th:text=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"${k.ime}"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&gt;&lt;/li&gt;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SCOPEOVI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scope — kroz više zahtjeva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4526280" cy="4206240"/>
          </a:xfrm>
          <a:prstGeom prst="roundRect">
            <a:avLst>
              <a:gd name="adj" fmla="val 1739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7" name="Shape 4"/>
          <p:cNvSpPr/>
          <p:nvPr/>
        </p:nvSpPr>
        <p:spPr>
          <a:xfrm>
            <a:off x="914400" y="1783080"/>
            <a:ext cx="603504" cy="603504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92938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8105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Vezano uz korisnika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14400" y="25146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HttpSession</a:t>
            </a: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čuva podatke kroz više zahtjeva istog korisnika (identificiran kolačićem </a:t>
            </a:r>
            <a:r>
              <a:rPr lang="en-US" sz="1050" b="1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JSESSIONID</a:t>
            </a: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Tipično: prijavljeni korisnik, košarica, postavke.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14400" y="41148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invalidate() uništava sesiju (npr. pri odjavi). Ima i timeout neaktivnosti.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4068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Prijava — spremanje u sesiju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40680" y="1810512"/>
            <a:ext cx="6126480" cy="1874520"/>
          </a:xfrm>
          <a:prstGeom prst="roundRect">
            <a:avLst>
              <a:gd name="adj" fmla="val 3415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4" name="Shape 10"/>
          <p:cNvSpPr/>
          <p:nvPr/>
        </p:nvSpPr>
        <p:spPr>
          <a:xfrm>
            <a:off x="5641848" y="1975104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5" name="Shape 11"/>
          <p:cNvSpPr/>
          <p:nvPr/>
        </p:nvSpPr>
        <p:spPr>
          <a:xfrm>
            <a:off x="5806440" y="1975104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6" name="Shape 12"/>
          <p:cNvSpPr/>
          <p:nvPr/>
        </p:nvSpPr>
        <p:spPr>
          <a:xfrm>
            <a:off x="5971032" y="1975104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7" name="Text 13"/>
          <p:cNvSpPr/>
          <p:nvPr/>
        </p:nvSpPr>
        <p:spPr>
          <a:xfrm>
            <a:off x="6217920" y="1901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getSession + setAttribute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696712" y="2231136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HttpSession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sesija = req.getSession();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sesija.setAttribute(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"korisnik"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korisnik);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6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drugi zahtjev — čitanje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 = sesija.getAttribute(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"korisnik"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4068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Odjava — gašenje sesije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40680" y="4133088"/>
            <a:ext cx="6126480" cy="1581912"/>
          </a:xfrm>
          <a:prstGeom prst="roundRect">
            <a:avLst>
              <a:gd name="adj" fmla="val 4046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1" name="Shape 17"/>
          <p:cNvSpPr/>
          <p:nvPr/>
        </p:nvSpPr>
        <p:spPr>
          <a:xfrm>
            <a:off x="5641848" y="4297680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2" name="Shape 18"/>
          <p:cNvSpPr/>
          <p:nvPr/>
        </p:nvSpPr>
        <p:spPr>
          <a:xfrm>
            <a:off x="5806440" y="4297680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3" name="Shape 19"/>
          <p:cNvSpPr/>
          <p:nvPr/>
        </p:nvSpPr>
        <p:spPr>
          <a:xfrm>
            <a:off x="5971032" y="4297680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4" name="Text 20"/>
          <p:cNvSpPr/>
          <p:nvPr/>
        </p:nvSpPr>
        <p:spPr>
          <a:xfrm>
            <a:off x="6217920" y="42245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invalidate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5696712" y="4553712"/>
            <a:ext cx="5669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req.getSession().invalidate();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res.sendRedirect(req.getContextPath()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"/prijava"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SCOPEOVI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scope — cijela aplikacija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4526280" cy="4206240"/>
          </a:xfrm>
          <a:prstGeom prst="roundRect">
            <a:avLst>
              <a:gd name="adj" fmla="val 1739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7" name="Shape 4"/>
          <p:cNvSpPr/>
          <p:nvPr/>
        </p:nvSpPr>
        <p:spPr>
          <a:xfrm>
            <a:off x="914400" y="1783080"/>
            <a:ext cx="603504" cy="603504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92938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8105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Dijeljeno svima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14400" y="25146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ServletContext</a:t>
            </a: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jedan po aplikaciji; atributi su vidljivi svim servletima i svim korisnicima dok aplikacija radi. Tipično: konfiguracija, cacheovi, zajednički brojači.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14400" y="41148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Pozor: </a:t>
            </a:r>
            <a:r>
              <a:rPr lang="en-US" sz="11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dijeljeno stanje treba biti thread-safe (više niti istovremeno).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4068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Pristup preko getServletContext()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40680" y="1810512"/>
            <a:ext cx="6126480" cy="2286000"/>
          </a:xfrm>
          <a:prstGeom prst="roundRect">
            <a:avLst>
              <a:gd name="adj" fmla="val 2800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4" name="Shape 10"/>
          <p:cNvSpPr/>
          <p:nvPr/>
        </p:nvSpPr>
        <p:spPr>
          <a:xfrm>
            <a:off x="5641848" y="1975104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5" name="Shape 11"/>
          <p:cNvSpPr/>
          <p:nvPr/>
        </p:nvSpPr>
        <p:spPr>
          <a:xfrm>
            <a:off x="5806440" y="1975104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6" name="Shape 12"/>
          <p:cNvSpPr/>
          <p:nvPr/>
        </p:nvSpPr>
        <p:spPr>
          <a:xfrm>
            <a:off x="5971032" y="1975104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7" name="Text 13"/>
          <p:cNvSpPr/>
          <p:nvPr/>
        </p:nvSpPr>
        <p:spPr>
          <a:xfrm>
            <a:off x="6217920" y="1901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ServletContext atribut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696712" y="2231136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ServletContext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= getServletContext();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6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zajednički brojač posjeta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(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app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.getAttribute(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"posjeti"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(n == </a:t>
            </a: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? 1 : n + 1;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app.setAttribute(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"posjeti"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n);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40680" y="4297680"/>
            <a:ext cx="612648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0" name="Shape 16"/>
          <p:cNvSpPr/>
          <p:nvPr/>
        </p:nvSpPr>
        <p:spPr>
          <a:xfrm>
            <a:off x="5687568" y="4553712"/>
            <a:ext cx="512064" cy="512064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4681728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440740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Hijerarhija širine:  </a:t>
            </a:r>
            <a:r>
              <a:rPr lang="en-US" sz="1200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⊂ session ⊂ application</a:t>
            </a:r>
            <a:r>
              <a:rPr lang="en-US" sz="12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Biraj najuži opseg koji zadatak traži.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SCOPEOVI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vs redirect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12064" cy="512064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68249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5544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(poslužiteljski)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19456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0" name="Shape 6"/>
          <p:cNvSpPr/>
          <p:nvPr/>
        </p:nvSpPr>
        <p:spPr>
          <a:xfrm>
            <a:off x="841248" y="235915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1" name="Shape 7"/>
          <p:cNvSpPr/>
          <p:nvPr/>
        </p:nvSpPr>
        <p:spPr>
          <a:xfrm>
            <a:off x="1005840" y="235915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2" name="Shape 8"/>
          <p:cNvSpPr/>
          <p:nvPr/>
        </p:nvSpPr>
        <p:spPr>
          <a:xfrm>
            <a:off x="1170432" y="235915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3" name="Text 9"/>
          <p:cNvSpPr/>
          <p:nvPr/>
        </p:nvSpPr>
        <p:spPr>
          <a:xfrm>
            <a:off x="1417320" y="22860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RequestDispatcher.forward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896112" y="2615184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req.getRequestDispatcher(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"/WEB-INF/views/popis.html"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.forward(req, res);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85800" y="3813048"/>
            <a:ext cx="292608" cy="292608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877056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794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 zahtjev — request atributi ostaju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85800" y="4379976"/>
            <a:ext cx="292608" cy="292608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443984"/>
            <a:ext cx="164592" cy="1645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4361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u pregledniku se ne mijenja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85800" y="4946904"/>
            <a:ext cx="292608" cy="292608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010912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49286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Pristup i do /WEB-INF resursa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55080" y="1554480"/>
            <a:ext cx="512064" cy="512064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1682496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15544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(klijentski)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6355080" y="2194560"/>
            <a:ext cx="5212080" cy="1417320"/>
          </a:xfrm>
          <a:prstGeom prst="roundRect">
            <a:avLst>
              <a:gd name="adj" fmla="val 4516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8" name="Shape 20"/>
          <p:cNvSpPr/>
          <p:nvPr/>
        </p:nvSpPr>
        <p:spPr>
          <a:xfrm>
            <a:off x="6556248" y="235915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9" name="Shape 21"/>
          <p:cNvSpPr/>
          <p:nvPr/>
        </p:nvSpPr>
        <p:spPr>
          <a:xfrm>
            <a:off x="6720840" y="235915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0" name="Shape 22"/>
          <p:cNvSpPr/>
          <p:nvPr/>
        </p:nvSpPr>
        <p:spPr>
          <a:xfrm>
            <a:off x="6885432" y="235915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1" name="Text 23"/>
          <p:cNvSpPr/>
          <p:nvPr/>
        </p:nvSpPr>
        <p:spPr>
          <a:xfrm>
            <a:off x="7132320" y="2286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response.sendRedirect (302)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6611112" y="261518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res.sendRedirect(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req.getContextPath()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+ 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"/popis"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400800" y="3813048"/>
            <a:ext cx="292608" cy="29260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3877056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12280" y="3794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 zahtjev — request atributi nestaju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400800" y="4379976"/>
            <a:ext cx="292608" cy="29260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4443984"/>
            <a:ext cx="164592" cy="16459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812280" y="4361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se mijenja (preglednik ide na novi)</a:t>
            </a:r>
            <a:endParaRPr lang="en-US" sz="1150" dirty="0"/>
          </a:p>
        </p:txBody>
      </p:sp>
      <p:sp>
        <p:nvSpPr>
          <p:cNvPr id="39" name="Shape 29"/>
          <p:cNvSpPr/>
          <p:nvPr/>
        </p:nvSpPr>
        <p:spPr>
          <a:xfrm>
            <a:off x="6400800" y="4946904"/>
            <a:ext cx="292608" cy="29260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5010912"/>
            <a:ext cx="164592" cy="16459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812280" y="492861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Sprječava ponovno slanje obrasca (PRG)</a:t>
            </a:r>
            <a:endParaRPr lang="en-US" sz="1150" dirty="0"/>
          </a:p>
        </p:txBody>
      </p:sp>
      <p:sp>
        <p:nvSpPr>
          <p:cNvPr id="42" name="Shape 31"/>
          <p:cNvSpPr/>
          <p:nvPr/>
        </p:nvSpPr>
        <p:spPr>
          <a:xfrm>
            <a:off x="640080" y="553212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43" name="Text 32"/>
          <p:cNvSpPr/>
          <p:nvPr/>
        </p:nvSpPr>
        <p:spPr>
          <a:xfrm>
            <a:off x="640080" y="5532120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Pravilo: </a:t>
            </a:r>
            <a:r>
              <a:rPr lang="en-US" sz="12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prikaz pogleda → forward;   nakon POST-a koji mijenja stanje → redirect (Post-Redirect-Get).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NA TOMCAT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web aplikacije (WAR)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Aplikacija se pakira u WAR (Web Application Archive) s propisanom strukturom direktorija.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669280" cy="3931920"/>
          </a:xfrm>
          <a:prstGeom prst="roundRect">
            <a:avLst>
              <a:gd name="adj" fmla="val 1628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8" name="Shape 5"/>
          <p:cNvSpPr/>
          <p:nvPr/>
        </p:nvSpPr>
        <p:spPr>
          <a:xfrm>
            <a:off x="841248" y="194767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9" name="Shape 6"/>
          <p:cNvSpPr/>
          <p:nvPr/>
        </p:nvSpPr>
        <p:spPr>
          <a:xfrm>
            <a:off x="1005840" y="194767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0" name="Shape 7"/>
          <p:cNvSpPr/>
          <p:nvPr/>
        </p:nvSpPr>
        <p:spPr>
          <a:xfrm>
            <a:off x="1170432" y="194767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1" name="Text 8"/>
          <p:cNvSpPr/>
          <p:nvPr/>
        </p:nvSpPr>
        <p:spPr>
          <a:xfrm>
            <a:off x="1417320" y="18745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raspored unutar WAR-a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96112" y="2203704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A9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aplikacija.war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index.html         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javni resursi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css/ , js/ , img/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WEB-INF/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zaštićeno!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web.xml       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descriptor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views/        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Thymeleaf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└─ popis.html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classes/      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.class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└─ </a:t>
            </a:r>
            <a:r>
              <a:rPr lang="en-US" sz="1100" dirty="0" err="1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hr-HR" sz="110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r>
              <a:rPr lang="en-US" sz="110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/...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lib/          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.jar ovisnosti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└─ thymeleaf.jar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37960" y="1828800"/>
            <a:ext cx="548640" cy="5486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9659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176479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WEB-INF je zaštićen
</a:t>
            </a:r>
            <a:r>
              <a:rPr lang="en-US" sz="11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 nije izravno dostupan URL-om — samo kroz servlet. Idealno za predloške i klase.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37960" y="2834640"/>
            <a:ext cx="548640" cy="548640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9718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23760" y="277063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
</a:t>
            </a:r>
            <a:r>
              <a:rPr lang="en-US" sz="11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descriptor: mapiranja, sigurnost, welcome/error stranice, parametri.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537960" y="3840480"/>
            <a:ext cx="548640" cy="5486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9776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377647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classes/ i lib/
</a:t>
            </a:r>
            <a:r>
              <a:rPr lang="en-US" sz="11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Prevedene klase i JAR ovisnosti čine classpath aplikacije.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537960" y="4846320"/>
            <a:ext cx="548640" cy="548640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98348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23760" y="478231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Javni korijen
</a:t>
            </a:r>
            <a:r>
              <a:rPr lang="en-US" sz="11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index.html, CSS, JS i slike dostupni su izravno preglednikom.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NA TOMCAT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 — deployment descriptor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Središnja konfiguracija aplikacije u /WEB-INF/web.xml: mapiranja, welcome i error stranice, parametri.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6766560" cy="3931920"/>
          </a:xfrm>
          <a:prstGeom prst="roundRect">
            <a:avLst>
              <a:gd name="adj" fmla="val 1628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8" name="Shape 5"/>
          <p:cNvSpPr/>
          <p:nvPr/>
        </p:nvSpPr>
        <p:spPr>
          <a:xfrm>
            <a:off x="841248" y="194767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9" name="Shape 6"/>
          <p:cNvSpPr/>
          <p:nvPr/>
        </p:nvSpPr>
        <p:spPr>
          <a:xfrm>
            <a:off x="1005840" y="194767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0" name="Shape 7"/>
          <p:cNvSpPr/>
          <p:nvPr/>
        </p:nvSpPr>
        <p:spPr>
          <a:xfrm>
            <a:off x="1170432" y="194767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1" name="Text 8"/>
          <p:cNvSpPr/>
          <p:nvPr/>
        </p:nvSpPr>
        <p:spPr>
          <a:xfrm>
            <a:off x="1417320" y="18745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WEB-INF/web.xml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96112" y="2203704"/>
            <a:ext cx="6309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&lt;web-app 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"...jakarta.../web-app"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version=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"6.0"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6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&lt;welcome-file-list&gt;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&lt;welcome-file&gt;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&lt;/welcome-file&gt;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&lt;/welcome-file-list&gt;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6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mapiranje servleta --&gt;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&lt;servlet&gt;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&lt;servlet-name&gt;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popis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&lt;/servlet-name&gt;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&lt;servlet-class&gt;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hr...PopisServlet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&lt;/servlet-class&gt;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&lt;/servlet&gt;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&lt;servlet-mapping&gt;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&lt;servlet-name&gt;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popis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&lt;/servlet-name&gt;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&lt;url-pattern&gt;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/popis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&lt;/url-pattern&gt;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&lt;/servlet-mapping&gt;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&lt;/web-app&gt;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35240" y="1828800"/>
            <a:ext cx="475488" cy="47548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947672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0" y="1773936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/ servlet-mapping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povezivanje URL-a sa servletom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635240" y="2615184"/>
            <a:ext cx="475488" cy="475488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273405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256032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welcome-file-list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početna stranica aplikacije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635240" y="3401568"/>
            <a:ext cx="475488" cy="47548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352044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0" y="334670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error-page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stranice za greške (404, 500)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635240" y="4187952"/>
            <a:ext cx="475488" cy="475488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4112" y="4306824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0" y="413308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context-param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globalni parametri aplikacije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7635240" y="4974336"/>
            <a:ext cx="475488" cy="47548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4112" y="509320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29600" y="491947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security-constraint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zaštita putanja (sljedeći slajd)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NA TOMCAT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Postavljanje aplikacije na Tomcat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6949440" cy="822960"/>
          </a:xfrm>
          <a:prstGeom prst="roundRect">
            <a:avLst>
              <a:gd name="adj" fmla="val 8889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7" name="Shape 4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8745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6916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Izgradi WAR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600200" y="203911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package → target/aplikacija.war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2560320"/>
            <a:ext cx="6949440" cy="822960"/>
          </a:xfrm>
          <a:prstGeom prst="roundRect">
            <a:avLst>
              <a:gd name="adj" fmla="val 8889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2" name="Shape 8"/>
          <p:cNvSpPr/>
          <p:nvPr/>
        </p:nvSpPr>
        <p:spPr>
          <a:xfrm>
            <a:off x="868680" y="2697480"/>
            <a:ext cx="548640" cy="548640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8346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265176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Kopiraj u webapps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600200" y="299923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stavi .war u &lt;TOMCAT&gt;/webapps/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3520440"/>
            <a:ext cx="6949440" cy="822960"/>
          </a:xfrm>
          <a:prstGeom prst="roundRect">
            <a:avLst>
              <a:gd name="adj" fmla="val 8889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7" name="Shape 12"/>
          <p:cNvSpPr/>
          <p:nvPr/>
        </p:nvSpPr>
        <p:spPr>
          <a:xfrm>
            <a:off x="868680" y="3657600"/>
            <a:ext cx="548640" cy="5486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7947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6118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Pokreni Tomcat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600200" y="395935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bin/startup.sh (ili startup.bat)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4480560"/>
            <a:ext cx="6949440" cy="822960"/>
          </a:xfrm>
          <a:prstGeom prst="roundRect">
            <a:avLst>
              <a:gd name="adj" fmla="val 8889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2" name="Shape 16"/>
          <p:cNvSpPr/>
          <p:nvPr/>
        </p:nvSpPr>
        <p:spPr>
          <a:xfrm>
            <a:off x="868680" y="4617720"/>
            <a:ext cx="548640" cy="548640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75488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45720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Otvori u pregledniku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1600200" y="49194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http://localhost:8080/aplikacija/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78638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ukratko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7863840" y="1920240"/>
            <a:ext cx="3703320" cy="3794760"/>
          </a:xfrm>
          <a:prstGeom prst="roundRect">
            <a:avLst>
              <a:gd name="adj" fmla="val 1975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8" name="Shape 21"/>
          <p:cNvSpPr/>
          <p:nvPr/>
        </p:nvSpPr>
        <p:spPr>
          <a:xfrm>
            <a:off x="8092440" y="2194560"/>
            <a:ext cx="457200" cy="4572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2304288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641080" y="2148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kontejner
</a:t>
            </a:r>
            <a:r>
              <a:rPr lang="en-US" sz="10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 implementira Servlet i (preko Jaspera) JSP specifikaciju.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092440" y="3035808"/>
            <a:ext cx="457200" cy="457200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2168" y="3145536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641080" y="29900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
</a:t>
            </a:r>
            <a:r>
              <a:rPr lang="en-US" sz="10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raspakira .war i objavi aplikaciju automatski.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8092440" y="3877056"/>
            <a:ext cx="457200" cy="4572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2168" y="3986784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641080" y="383133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
</a:t>
            </a:r>
            <a:r>
              <a:rPr lang="en-US" sz="10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sučelje za deploy/undeploy bez kopiranja datoteka.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8092440" y="4718304"/>
            <a:ext cx="457200" cy="457200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2168" y="4828032"/>
            <a:ext cx="237744" cy="23774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641080" y="467258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/ Maven
</a:t>
            </a:r>
            <a:r>
              <a:rPr lang="en-US" sz="10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i cargo/tomcat plugin omogućuju deploy iz alata.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Zaštita u web.xml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Deklarativna sigurnost: u web.xml definiramo zaštićene putanje, dopuštene role i način prijave.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6858000" cy="4160520"/>
          </a:xfrm>
          <a:prstGeom prst="roundRect">
            <a:avLst>
              <a:gd name="adj" fmla="val 1538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8" name="Shape 5"/>
          <p:cNvSpPr/>
          <p:nvPr/>
        </p:nvSpPr>
        <p:spPr>
          <a:xfrm>
            <a:off x="841248" y="194767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9" name="Shape 6"/>
          <p:cNvSpPr/>
          <p:nvPr/>
        </p:nvSpPr>
        <p:spPr>
          <a:xfrm>
            <a:off x="1005840" y="194767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0" name="Shape 7"/>
          <p:cNvSpPr/>
          <p:nvPr/>
        </p:nvSpPr>
        <p:spPr>
          <a:xfrm>
            <a:off x="1170432" y="194767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1" name="Text 8"/>
          <p:cNvSpPr/>
          <p:nvPr/>
        </p:nvSpPr>
        <p:spPr>
          <a:xfrm>
            <a:off x="1417320" y="1874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WEB-INF/web.xml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96112" y="2203704"/>
            <a:ext cx="6400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koje putanje i tko smije --&gt;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&lt;security-constraint&gt;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&lt;web-resource-collection&gt;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&lt;url-pattern&gt;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/admin/*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&lt;/url-pattern&gt;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&lt;/web-resource-collection&gt;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&lt;auth-constraint&gt;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&lt;role-name&gt;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&lt;/role-name&gt;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&lt;/auth-constraint&gt;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&lt;/security-constraint&gt;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način prijave --&gt;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&lt;login-config&gt;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&lt;auth-method&gt;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&lt;/auth-method&gt;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&lt;/login-config&gt;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popis poznatih rola --&gt;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&lt;security-role&gt;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&lt;role-name&gt;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&lt;/role-name&gt;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&lt;/security-role&gt;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26680" y="1828800"/>
            <a:ext cx="530352" cy="53035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195681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66760" y="179222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security-constraint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koje URL putanje su zaštićene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726680" y="2788920"/>
            <a:ext cx="530352" cy="530352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696" y="291693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75234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auth-constraint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koje role smiju pristupiti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726680" y="3749040"/>
            <a:ext cx="530352" cy="53035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4696" y="387705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66760" y="371246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login-config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ili FORM prijava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726680" y="4709160"/>
            <a:ext cx="530352" cy="530352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4696" y="4837176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66760" y="467258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security-role
</a:t>
            </a: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deklaracija svih rola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Korisnici u tomcat-users.xml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ima ugrađeni izvor korisnika (UserDatabase Realm) — predefinirani korisnici i role u conf/tomcat-users.xml.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6858000" cy="3200400"/>
          </a:xfrm>
          <a:prstGeom prst="roundRect">
            <a:avLst>
              <a:gd name="adj" fmla="val 2000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8" name="Shape 5"/>
          <p:cNvSpPr/>
          <p:nvPr/>
        </p:nvSpPr>
        <p:spPr>
          <a:xfrm>
            <a:off x="841248" y="194767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9" name="Shape 6"/>
          <p:cNvSpPr/>
          <p:nvPr/>
        </p:nvSpPr>
        <p:spPr>
          <a:xfrm>
            <a:off x="1005840" y="194767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0" name="Shape 7"/>
          <p:cNvSpPr/>
          <p:nvPr/>
        </p:nvSpPr>
        <p:spPr>
          <a:xfrm>
            <a:off x="1170432" y="194767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1" name="Text 8"/>
          <p:cNvSpPr/>
          <p:nvPr/>
        </p:nvSpPr>
        <p:spPr>
          <a:xfrm>
            <a:off x="1417320" y="1874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&lt;TOMCAT&gt;/conf/tomcat-users.xml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96112" y="2203704"/>
            <a:ext cx="6400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&lt;tomcat-users&gt;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6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definicija rola --&gt;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&lt;role 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rolename=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&lt;role 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rolename=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"korisnik"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6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korisnici + dodijeljene role --&gt;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&lt;user 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password=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"tajna"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roles=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"admin,korisnik"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&lt;user 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"ivo"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password=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"123"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roles=</a:t>
            </a:r>
            <a:r>
              <a:rPr lang="en-US" sz="1100" dirty="0">
                <a:solidFill>
                  <a:srgbClr val="8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"korisnik"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&lt;/tomcat-users&gt;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26680" y="178308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F6F1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4" name="Shape 11"/>
          <p:cNvSpPr/>
          <p:nvPr/>
        </p:nvSpPr>
        <p:spPr>
          <a:xfrm>
            <a:off x="8001000" y="2057400"/>
            <a:ext cx="566928" cy="56692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2128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86800" y="20848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se povezuje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001000" y="274320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F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r>
              <a:rPr lang="en-US" sz="12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tomcat-users.xml moraju odgovarati </a:t>
            </a:r>
            <a:r>
              <a:rPr lang="en-US" sz="1050" b="1" dirty="0">
                <a:solidFill>
                  <a:srgbClr val="E88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&lt;role-name&gt;</a:t>
            </a:r>
            <a:r>
              <a:rPr lang="en-US" sz="12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iz web.xml.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pristupu zaštićenoj putanji Tomcat traži prijavu, provjeri korisnika i njegove role te dopusti ili odbije (403).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5120640"/>
            <a:ext cx="10927080" cy="594360"/>
          </a:xfrm>
          <a:prstGeom prst="roundRect">
            <a:avLst>
              <a:gd name="adj" fmla="val 12308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9" name="Shape 15"/>
          <p:cNvSpPr/>
          <p:nvPr/>
        </p:nvSpPr>
        <p:spPr>
          <a:xfrm>
            <a:off x="868680" y="5230368"/>
            <a:ext cx="384048" cy="38404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321808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51206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Napomena: </a:t>
            </a:r>
            <a:r>
              <a:rPr lang="en-US" sz="12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tomcat-users.xml s lozinkama u čistom tekstu prikladan je za učenje i razvoj; u produkciji koristi hashirane lozinke i jači Realm (npr. JDBC/LDAP).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Načini prijave: BASIC i FORM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12064" cy="512064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68249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5544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autentikacija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19456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0" name="Shape 6"/>
          <p:cNvSpPr/>
          <p:nvPr/>
        </p:nvSpPr>
        <p:spPr>
          <a:xfrm>
            <a:off x="841248" y="235915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1" name="Shape 7"/>
          <p:cNvSpPr/>
          <p:nvPr/>
        </p:nvSpPr>
        <p:spPr>
          <a:xfrm>
            <a:off x="1005840" y="235915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2" name="Shape 8"/>
          <p:cNvSpPr/>
          <p:nvPr/>
        </p:nvSpPr>
        <p:spPr>
          <a:xfrm>
            <a:off x="1170432" y="235915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3" name="Text 9"/>
          <p:cNvSpPr/>
          <p:nvPr/>
        </p:nvSpPr>
        <p:spPr>
          <a:xfrm>
            <a:off x="1417320" y="22860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web.xml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896112" y="261518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&lt;login-config&gt;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&lt;auth-method&gt;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&lt;/auth-method&gt;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&lt;/login-config&gt;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85800" y="3721608"/>
            <a:ext cx="274320" cy="274320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781044"/>
            <a:ext cx="155448" cy="155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8992" y="3703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Preglednik prikazuje skočni dijalog za prijavu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85800" y="4270248"/>
            <a:ext cx="274320" cy="274320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4329684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8992" y="42519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Jednostavno za postaviti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85800" y="4818888"/>
            <a:ext cx="274320" cy="274320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4878324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78992" y="48006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vlastite forme; ograničen izgled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55080" y="1554480"/>
            <a:ext cx="512064" cy="512064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1682496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15544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autentikacija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6355080" y="2194560"/>
            <a:ext cx="5212080" cy="1325880"/>
          </a:xfrm>
          <a:prstGeom prst="roundRect">
            <a:avLst>
              <a:gd name="adj" fmla="val 4828"/>
            </a:avLst>
          </a:prstGeom>
          <a:solidFill>
            <a:srgbClr val="1C161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8" name="Shape 20"/>
          <p:cNvSpPr/>
          <p:nvPr/>
        </p:nvSpPr>
        <p:spPr>
          <a:xfrm>
            <a:off x="6556248" y="2359152"/>
            <a:ext cx="100584" cy="100584"/>
          </a:xfrm>
          <a:prstGeom prst="ellipse">
            <a:avLst/>
          </a:prstGeom>
          <a:solidFill>
            <a:srgbClr val="E8826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9" name="Shape 21"/>
          <p:cNvSpPr/>
          <p:nvPr/>
        </p:nvSpPr>
        <p:spPr>
          <a:xfrm>
            <a:off x="6720840" y="2359152"/>
            <a:ext cx="100584" cy="100584"/>
          </a:xfrm>
          <a:prstGeom prst="ellipse">
            <a:avLst/>
          </a:prstGeom>
          <a:solidFill>
            <a:srgbClr val="E8B85A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0" name="Shape 22"/>
          <p:cNvSpPr/>
          <p:nvPr/>
        </p:nvSpPr>
        <p:spPr>
          <a:xfrm>
            <a:off x="6885432" y="2359152"/>
            <a:ext cx="100584" cy="100584"/>
          </a:xfrm>
          <a:prstGeom prst="ellipse">
            <a:avLst/>
          </a:prstGeom>
          <a:solidFill>
            <a:srgbClr val="7FB87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1" name="Text 23"/>
          <p:cNvSpPr/>
          <p:nvPr/>
        </p:nvSpPr>
        <p:spPr>
          <a:xfrm>
            <a:off x="7132320" y="2286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7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web.xml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6611112" y="261518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&lt;login-config&gt;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&lt;auth-method&gt;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&lt;/auth-method&gt;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&lt;form-login-config&gt;</a:t>
            </a:r>
            <a:r>
              <a:rPr lang="en-US" sz="1100" dirty="0">
                <a:solidFill>
                  <a:srgbClr val="E8DF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</a:t>
            </a: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&lt;/...&gt;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&lt;/login-config&gt;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400800" y="3721608"/>
            <a:ext cx="274320" cy="27432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236" y="3781044"/>
            <a:ext cx="155448" cy="1554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793992" y="3703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Vlastita HTML forma za prijavu (Thymeleaf)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400800" y="4270248"/>
            <a:ext cx="274320" cy="27432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236" y="4329684"/>
            <a:ext cx="155448" cy="15544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793992" y="4251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Polja j_username i j_password → j_security_check</a:t>
            </a:r>
            <a:endParaRPr lang="en-US" sz="1150" dirty="0"/>
          </a:p>
        </p:txBody>
      </p:sp>
      <p:sp>
        <p:nvSpPr>
          <p:cNvPr id="39" name="Shape 29"/>
          <p:cNvSpPr/>
          <p:nvPr/>
        </p:nvSpPr>
        <p:spPr>
          <a:xfrm>
            <a:off x="6400800" y="4818888"/>
            <a:ext cx="274320" cy="27432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236" y="4878324"/>
            <a:ext cx="155448" cy="15544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793992" y="48006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Potpuna kontrola nad izgledom i tijekom</a:t>
            </a:r>
            <a:endParaRPr lang="en-US" sz="1150" dirty="0"/>
          </a:p>
        </p:txBody>
      </p:sp>
      <p:sp>
        <p:nvSpPr>
          <p:cNvPr id="42" name="Shape 31"/>
          <p:cNvSpPr/>
          <p:nvPr/>
        </p:nvSpPr>
        <p:spPr>
          <a:xfrm>
            <a:off x="640080" y="548640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43" name="Text 32"/>
          <p:cNvSpPr/>
          <p:nvPr/>
        </p:nvSpPr>
        <p:spPr>
          <a:xfrm>
            <a:off x="640080" y="548640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 načina </a:t>
            </a:r>
            <a:r>
              <a:rPr lang="en-US" sz="12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koriste iste role i korisnike (tomcat-users.xml) i istu security-constraint; razlikuje se samo korisničko iskustvo prijave.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1A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9418320" y="4297680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640080"/>
            <a:ext cx="731520" cy="731520"/>
          </a:xfrm>
          <a:prstGeom prst="roundRect">
            <a:avLst>
              <a:gd name="adj" fmla="val 16250"/>
            </a:avLst>
          </a:prstGeom>
          <a:solidFill>
            <a:srgbClr val="E8821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795528"/>
            <a:ext cx="420624" cy="4206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91640" y="713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 I ŠTO SLIJEDI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servleta prema Spring ekosustavu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822960" y="22860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2E241C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8" name="Shape 4"/>
          <p:cNvSpPr/>
          <p:nvPr/>
        </p:nvSpPr>
        <p:spPr>
          <a:xfrm>
            <a:off x="1097280" y="2560320"/>
            <a:ext cx="603504" cy="603504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84" y="270662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74520" y="25420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Servleti su temelj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874520" y="2999232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HttpServlet, životni ciklus i doGet/doPost čine osnovu svake Java web aplikacije.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6355080" y="22860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2E241C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3" name="Shape 8"/>
          <p:cNvSpPr/>
          <p:nvPr/>
        </p:nvSpPr>
        <p:spPr>
          <a:xfrm>
            <a:off x="6629400" y="2560320"/>
            <a:ext cx="603504" cy="603504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704" y="2706624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06640" y="25420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Pogled i scopeovi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406640" y="2999232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odvaja prikaz; request/session/application opsezi nose podatke.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822960" y="4078224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2E241C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8" name="Shape 12"/>
          <p:cNvSpPr/>
          <p:nvPr/>
        </p:nvSpPr>
        <p:spPr>
          <a:xfrm>
            <a:off x="1097280" y="4352544"/>
            <a:ext cx="603504" cy="603504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3584" y="4498848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874520" y="4334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i sigurnost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874520" y="4791456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+ web.xml za deploy; security-constraint i tomcat-users.xml za prijavu i role.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355080" y="4078224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2E241C"/>
          </a:solidFill>
          <a:ln w="15875">
            <a:solidFill>
              <a:srgbClr val="E8821E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3" name="Shape 16"/>
          <p:cNvSpPr/>
          <p:nvPr/>
        </p:nvSpPr>
        <p:spPr>
          <a:xfrm>
            <a:off x="6629400" y="4352544"/>
            <a:ext cx="603504" cy="603504"/>
          </a:xfrm>
          <a:prstGeom prst="ellipse">
            <a:avLst/>
          </a:prstGeom>
          <a:solidFill>
            <a:srgbClr val="3F7CA0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4" y="4498848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06640" y="4334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Sljedeća predavanja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7406640" y="4791456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Istu aplikaciju refaktorirat ćemo na Spring MVC, a zatim na Spring Boot.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82296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Servleti  </a:t>
            </a:r>
            <a:r>
              <a:rPr lang="en-US" sz="1300" dirty="0">
                <a:solidFill>
                  <a:srgbClr val="6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Spring MVC  </a:t>
            </a:r>
            <a:r>
              <a:rPr lang="en-US" sz="13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Spring Boot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dr. sc. Aleksander Radovan, prof. struč. stud</a:t>
            </a:r>
            <a:r>
              <a:rPr lang="en-US" sz="1250" b="1">
                <a:solidFill>
                  <a:srgbClr val="F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4226</Words>
  <Application>Microsoft Office PowerPoint</Application>
  <PresentationFormat>Široki zaslon</PresentationFormat>
  <Paragraphs>558</Paragraphs>
  <Slides>25</Slides>
  <Notes>25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web aplikacije sa Servletima</dc:title>
  <dc:subject>PptxGenJS Presentation</dc:subject>
  <dc:creator>doc. dr. sc. Aleksander Radovan</dc:creator>
  <cp:lastModifiedBy>Aleksander Radovan (aradovan)</cp:lastModifiedBy>
  <cp:revision>3</cp:revision>
  <dcterms:created xsi:type="dcterms:W3CDTF">2026-06-26T05:19:03Z</dcterms:created>
  <dcterms:modified xsi:type="dcterms:W3CDTF">2026-06-30T04:12:29Z</dcterms:modified>
</cp:coreProperties>
</file>